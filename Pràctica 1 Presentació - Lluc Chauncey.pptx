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League Spartan" charset="1" panose="00000800000000000000"/>
      <p:regular r:id="rId13"/>
    </p:embeddedFont>
    <p:embeddedFont>
      <p:font typeface="Roboto" charset="1" panose="02000000000000000000"/>
      <p:regular r:id="rId14"/>
    </p:embeddedFont>
    <p:embeddedFont>
      <p:font typeface="Poppins Bold" charset="1" panose="00000800000000000000"/>
      <p:regular r:id="rId15"/>
    </p:embeddedFont>
    <p:embeddedFont>
      <p:font typeface="Poppins" charset="1" panose="0000050000000000000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Relationship Id="rId5" Target="../media/image7.png" Type="http://schemas.openxmlformats.org/officeDocument/2006/relationships/image"/><Relationship Id="rId6" Target="../media/image8.png" Type="http://schemas.openxmlformats.org/officeDocument/2006/relationships/image"/><Relationship Id="rId7" Target="../media/image9.png" Type="http://schemas.openxmlformats.org/officeDocument/2006/relationships/image"/><Relationship Id="rId8" Target="../media/image10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11.png" Type="http://schemas.openxmlformats.org/officeDocument/2006/relationships/image"/><Relationship Id="rId4" Target="../media/image12.png" Type="http://schemas.openxmlformats.org/officeDocument/2006/relationships/image"/><Relationship Id="rId5" Target="../media/image13.png" Type="http://schemas.openxmlformats.org/officeDocument/2006/relationships/image"/><Relationship Id="rId6" Target="../media/image14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jpeg" Type="http://schemas.openxmlformats.org/officeDocument/2006/relationships/image"/><Relationship Id="rId3" Target="../media/image1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jpeg" Type="http://schemas.openxmlformats.org/officeDocument/2006/relationships/image"/><Relationship Id="rId3" Target="../media/image17.png" Type="http://schemas.openxmlformats.org/officeDocument/2006/relationships/image"/><Relationship Id="rId4" Target="../media/image1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294840" y="2303740"/>
            <a:ext cx="13833463" cy="4908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b="true" sz="6999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RESOLUCIÓ NUMÈRICA DE L'EQUACIÓ DE SCHRÖDINGER PER A UN POU POTENCIAL DOBLE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-1130300" y="4057750"/>
            <a:ext cx="3086100" cy="2171499"/>
            <a:chOff x="0" y="0"/>
            <a:chExt cx="812800" cy="57191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571917"/>
            </a:xfrm>
            <a:custGeom>
              <a:avLst/>
              <a:gdLst/>
              <a:ahLst/>
              <a:cxnLst/>
              <a:rect r="r" b="b" t="t" l="l"/>
              <a:pathLst>
                <a:path h="571917" w="812800">
                  <a:moveTo>
                    <a:pt x="609600" y="0"/>
                  </a:moveTo>
                  <a:cubicBezTo>
                    <a:pt x="721824" y="0"/>
                    <a:pt x="812800" y="128028"/>
                    <a:pt x="812800" y="285959"/>
                  </a:cubicBezTo>
                  <a:cubicBezTo>
                    <a:pt x="812800" y="443889"/>
                    <a:pt x="721824" y="571917"/>
                    <a:pt x="609600" y="571917"/>
                  </a:cubicBezTo>
                  <a:lnTo>
                    <a:pt x="203200" y="571917"/>
                  </a:lnTo>
                  <a:cubicBezTo>
                    <a:pt x="90976" y="571917"/>
                    <a:pt x="0" y="443889"/>
                    <a:pt x="0" y="285959"/>
                  </a:cubicBezTo>
                  <a:cubicBezTo>
                    <a:pt x="0" y="128028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812800" cy="6195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6467343" y="4057750"/>
            <a:ext cx="3086100" cy="2171499"/>
            <a:chOff x="0" y="0"/>
            <a:chExt cx="812800" cy="57191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571917"/>
            </a:xfrm>
            <a:custGeom>
              <a:avLst/>
              <a:gdLst/>
              <a:ahLst/>
              <a:cxnLst/>
              <a:rect r="r" b="b" t="t" l="l"/>
              <a:pathLst>
                <a:path h="571917" w="812800">
                  <a:moveTo>
                    <a:pt x="609600" y="0"/>
                  </a:moveTo>
                  <a:cubicBezTo>
                    <a:pt x="721824" y="0"/>
                    <a:pt x="812800" y="128028"/>
                    <a:pt x="812800" y="285959"/>
                  </a:cubicBezTo>
                  <a:cubicBezTo>
                    <a:pt x="812800" y="443889"/>
                    <a:pt x="721824" y="571917"/>
                    <a:pt x="609600" y="571917"/>
                  </a:cubicBezTo>
                  <a:lnTo>
                    <a:pt x="203200" y="571917"/>
                  </a:lnTo>
                  <a:cubicBezTo>
                    <a:pt x="90976" y="571917"/>
                    <a:pt x="0" y="443889"/>
                    <a:pt x="0" y="285959"/>
                  </a:cubicBezTo>
                  <a:cubicBezTo>
                    <a:pt x="0" y="128028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812800" cy="6195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6130021" y="7890765"/>
            <a:ext cx="6163101" cy="6242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94"/>
              </a:lnSpc>
            </a:pPr>
            <a:r>
              <a:rPr lang="en-US" sz="3639">
                <a:solidFill>
                  <a:srgbClr val="303642"/>
                </a:solidFill>
                <a:latin typeface="Roboto"/>
                <a:ea typeface="Roboto"/>
                <a:cs typeface="Roboto"/>
                <a:sym typeface="Roboto"/>
              </a:rPr>
              <a:t>LLUC CHAUNCEY MEDEIROS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6792707" cy="10287000"/>
            <a:chOff x="0" y="0"/>
            <a:chExt cx="1789026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789026" cy="2709333"/>
            </a:xfrm>
            <a:custGeom>
              <a:avLst/>
              <a:gdLst/>
              <a:ahLst/>
              <a:cxnLst/>
              <a:rect r="r" b="b" t="t" l="l"/>
              <a:pathLst>
                <a:path h="2709333" w="1789026">
                  <a:moveTo>
                    <a:pt x="0" y="0"/>
                  </a:moveTo>
                  <a:lnTo>
                    <a:pt x="1789026" y="0"/>
                  </a:lnTo>
                  <a:lnTo>
                    <a:pt x="178902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789026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5446818" y="8630505"/>
            <a:ext cx="897167" cy="2183545"/>
            <a:chOff x="0" y="0"/>
            <a:chExt cx="236291" cy="57509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36291" cy="575090"/>
            </a:xfrm>
            <a:custGeom>
              <a:avLst/>
              <a:gdLst/>
              <a:ahLst/>
              <a:cxnLst/>
              <a:rect r="r" b="b" t="t" l="l"/>
              <a:pathLst>
                <a:path h="575090" w="236291">
                  <a:moveTo>
                    <a:pt x="118145" y="0"/>
                  </a:moveTo>
                  <a:lnTo>
                    <a:pt x="118145" y="0"/>
                  </a:lnTo>
                  <a:cubicBezTo>
                    <a:pt x="183395" y="0"/>
                    <a:pt x="236291" y="52895"/>
                    <a:pt x="236291" y="118145"/>
                  </a:cubicBezTo>
                  <a:lnTo>
                    <a:pt x="236291" y="456945"/>
                  </a:lnTo>
                  <a:cubicBezTo>
                    <a:pt x="236291" y="488279"/>
                    <a:pt x="223843" y="518330"/>
                    <a:pt x="201687" y="540486"/>
                  </a:cubicBezTo>
                  <a:cubicBezTo>
                    <a:pt x="179530" y="562643"/>
                    <a:pt x="149480" y="575090"/>
                    <a:pt x="118145" y="575090"/>
                  </a:cubicBezTo>
                  <a:lnTo>
                    <a:pt x="118145" y="575090"/>
                  </a:lnTo>
                  <a:cubicBezTo>
                    <a:pt x="86811" y="575090"/>
                    <a:pt x="56761" y="562643"/>
                    <a:pt x="34604" y="540486"/>
                  </a:cubicBezTo>
                  <a:cubicBezTo>
                    <a:pt x="12447" y="518330"/>
                    <a:pt x="0" y="488279"/>
                    <a:pt x="0" y="456945"/>
                  </a:cubicBezTo>
                  <a:lnTo>
                    <a:pt x="0" y="118145"/>
                  </a:lnTo>
                  <a:cubicBezTo>
                    <a:pt x="0" y="86811"/>
                    <a:pt x="12447" y="56761"/>
                    <a:pt x="34604" y="34604"/>
                  </a:cubicBezTo>
                  <a:cubicBezTo>
                    <a:pt x="56761" y="12447"/>
                    <a:pt x="86811" y="0"/>
                    <a:pt x="11814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236291" cy="6227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7408790" y="1170969"/>
            <a:ext cx="10407908" cy="7945062"/>
            <a:chOff x="0" y="0"/>
            <a:chExt cx="1070141" cy="81691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70141" cy="816911"/>
            </a:xfrm>
            <a:custGeom>
              <a:avLst/>
              <a:gdLst/>
              <a:ahLst/>
              <a:cxnLst/>
              <a:rect r="r" b="b" t="t" l="l"/>
              <a:pathLst>
                <a:path h="816911" w="1070141">
                  <a:moveTo>
                    <a:pt x="17109" y="0"/>
                  </a:moveTo>
                  <a:lnTo>
                    <a:pt x="1053032" y="0"/>
                  </a:lnTo>
                  <a:cubicBezTo>
                    <a:pt x="1057570" y="0"/>
                    <a:pt x="1061921" y="1803"/>
                    <a:pt x="1065130" y="5011"/>
                  </a:cubicBezTo>
                  <a:cubicBezTo>
                    <a:pt x="1068338" y="8219"/>
                    <a:pt x="1070141" y="12571"/>
                    <a:pt x="1070141" y="17109"/>
                  </a:cubicBezTo>
                  <a:lnTo>
                    <a:pt x="1070141" y="799802"/>
                  </a:lnTo>
                  <a:cubicBezTo>
                    <a:pt x="1070141" y="804340"/>
                    <a:pt x="1068338" y="808692"/>
                    <a:pt x="1065130" y="811900"/>
                  </a:cubicBezTo>
                  <a:cubicBezTo>
                    <a:pt x="1061921" y="815108"/>
                    <a:pt x="1057570" y="816911"/>
                    <a:pt x="1053032" y="816911"/>
                  </a:cubicBezTo>
                  <a:lnTo>
                    <a:pt x="17109" y="816911"/>
                  </a:lnTo>
                  <a:cubicBezTo>
                    <a:pt x="12571" y="816911"/>
                    <a:pt x="8219" y="815108"/>
                    <a:pt x="5011" y="811900"/>
                  </a:cubicBezTo>
                  <a:cubicBezTo>
                    <a:pt x="1803" y="808692"/>
                    <a:pt x="0" y="804340"/>
                    <a:pt x="0" y="799802"/>
                  </a:cubicBezTo>
                  <a:lnTo>
                    <a:pt x="0" y="17109"/>
                  </a:lnTo>
                  <a:cubicBezTo>
                    <a:pt x="0" y="12571"/>
                    <a:pt x="1803" y="8219"/>
                    <a:pt x="5011" y="5011"/>
                  </a:cubicBezTo>
                  <a:cubicBezTo>
                    <a:pt x="8219" y="1803"/>
                    <a:pt x="12571" y="0"/>
                    <a:pt x="17109" y="0"/>
                  </a:cubicBezTo>
                  <a:close/>
                </a:path>
              </a:pathLst>
            </a:custGeom>
            <a:blipFill>
              <a:blip r:embed="rId3"/>
              <a:stretch>
                <a:fillRect l="0" t="-598" r="0" b="-598"/>
              </a:stretch>
            </a:blipFill>
            <a:ln w="38100" cap="rnd">
              <a:solidFill>
                <a:srgbClr val="000000"/>
              </a:solidFill>
              <a:prstDash val="solid"/>
              <a:round/>
            </a:ln>
          </p:spPr>
        </p:sp>
      </p:grpSp>
      <p:sp>
        <p:nvSpPr>
          <p:cNvPr name="TextBox 11" id="11"/>
          <p:cNvSpPr txBox="true"/>
          <p:nvPr/>
        </p:nvSpPr>
        <p:spPr>
          <a:xfrm rot="0">
            <a:off x="1013623" y="942975"/>
            <a:ext cx="5330362" cy="1623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91"/>
              </a:lnSpc>
            </a:pPr>
            <a:r>
              <a:rPr lang="en-US" b="true" sz="4708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EXPRESSIÓ DEL POTENCIAL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09411" y="3071889"/>
            <a:ext cx="5634574" cy="6178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96"/>
              </a:lnSpc>
              <a:spcBef>
                <a:spcPct val="0"/>
              </a:spcBef>
            </a:pPr>
            <a:r>
              <a:rPr lang="en-US" b="true" sz="3425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V = bx</a:t>
            </a:r>
            <a:r>
              <a:rPr lang="en-US" b="true" sz="3425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4</a:t>
            </a:r>
            <a:r>
              <a:rPr lang="en-US" b="true" sz="3425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- cx</a:t>
            </a:r>
            <a:r>
              <a:rPr lang="en-US" b="true" sz="3425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2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48342" y="4213595"/>
            <a:ext cx="5056345" cy="1921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8534" indent="-294267" lvl="1">
              <a:lnSpc>
                <a:spcPts val="3816"/>
              </a:lnSpc>
              <a:buFont typeface="Arial"/>
              <a:buChar char="•"/>
            </a:pPr>
            <a:r>
              <a:rPr lang="en-US" sz="272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Valor de les constants:</a:t>
            </a:r>
          </a:p>
          <a:p>
            <a:pPr algn="l">
              <a:lnSpc>
                <a:spcPts val="3816"/>
              </a:lnSpc>
            </a:pPr>
          </a:p>
          <a:p>
            <a:pPr algn="l" marL="1177068" indent="-392356" lvl="2">
              <a:lnSpc>
                <a:spcPts val="3816"/>
              </a:lnSpc>
              <a:buFont typeface="Arial"/>
              <a:buChar char="⚬"/>
            </a:pPr>
            <a:r>
              <a:rPr lang="en-US" b="true" sz="2725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b = 1</a:t>
            </a:r>
          </a:p>
          <a:p>
            <a:pPr algn="l" marL="1177068" indent="-392356" lvl="2">
              <a:lnSpc>
                <a:spcPts val="3816"/>
              </a:lnSpc>
              <a:spcBef>
                <a:spcPct val="0"/>
              </a:spcBef>
              <a:buFont typeface="Arial"/>
              <a:buChar char="⚬"/>
            </a:pPr>
            <a:r>
              <a:rPr lang="en-US" b="true" sz="2725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 = 6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48342" y="6658956"/>
            <a:ext cx="5956711" cy="2397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8534" indent="-294267" lvl="1">
              <a:lnSpc>
                <a:spcPts val="3816"/>
              </a:lnSpc>
              <a:buFont typeface="Arial"/>
              <a:buChar char="•"/>
            </a:pPr>
            <a:r>
              <a:rPr lang="en-US" sz="272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Límits d’integració:</a:t>
            </a:r>
          </a:p>
          <a:p>
            <a:pPr algn="l">
              <a:lnSpc>
                <a:spcPts val="3816"/>
              </a:lnSpc>
            </a:pPr>
          </a:p>
          <a:p>
            <a:pPr algn="l" marL="1177068" indent="-392356" lvl="2">
              <a:lnSpc>
                <a:spcPts val="3816"/>
              </a:lnSpc>
              <a:buFont typeface="Arial"/>
              <a:buChar char="⚬"/>
            </a:pPr>
            <a:r>
              <a:rPr lang="en-US" b="true" sz="2725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L = 8</a:t>
            </a:r>
          </a:p>
          <a:p>
            <a:pPr algn="l" marL="1177068" indent="-392356" lvl="2">
              <a:lnSpc>
                <a:spcPts val="3816"/>
              </a:lnSpc>
              <a:buFont typeface="Arial"/>
              <a:buChar char="⚬"/>
            </a:pPr>
            <a:r>
              <a:rPr lang="en-US" b="true" sz="2725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-L/2 = -4</a:t>
            </a:r>
          </a:p>
          <a:p>
            <a:pPr algn="l" marL="1177068" indent="-392356" lvl="2">
              <a:lnSpc>
                <a:spcPts val="3816"/>
              </a:lnSpc>
              <a:spcBef>
                <a:spcPct val="0"/>
              </a:spcBef>
              <a:buFont typeface="Arial"/>
              <a:buChar char="⚬"/>
            </a:pPr>
            <a:r>
              <a:rPr lang="en-US" b="true" sz="2725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L/2 = 4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050651" y="1459942"/>
            <a:ext cx="6254935" cy="9234861"/>
            <a:chOff x="0" y="0"/>
            <a:chExt cx="1647390" cy="243222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647390" cy="2432227"/>
            </a:xfrm>
            <a:custGeom>
              <a:avLst/>
              <a:gdLst/>
              <a:ahLst/>
              <a:cxnLst/>
              <a:rect r="r" b="b" t="t" l="l"/>
              <a:pathLst>
                <a:path h="2432227" w="1647390">
                  <a:moveTo>
                    <a:pt x="63124" y="0"/>
                  </a:moveTo>
                  <a:lnTo>
                    <a:pt x="1584266" y="0"/>
                  </a:lnTo>
                  <a:cubicBezTo>
                    <a:pt x="1601008" y="0"/>
                    <a:pt x="1617064" y="6651"/>
                    <a:pt x="1628902" y="18489"/>
                  </a:cubicBezTo>
                  <a:cubicBezTo>
                    <a:pt x="1640740" y="30327"/>
                    <a:pt x="1647390" y="46383"/>
                    <a:pt x="1647390" y="63124"/>
                  </a:cubicBezTo>
                  <a:lnTo>
                    <a:pt x="1647390" y="2369102"/>
                  </a:lnTo>
                  <a:cubicBezTo>
                    <a:pt x="1647390" y="2403965"/>
                    <a:pt x="1619129" y="2432227"/>
                    <a:pt x="1584266" y="2432227"/>
                  </a:cubicBezTo>
                  <a:lnTo>
                    <a:pt x="63124" y="2432227"/>
                  </a:lnTo>
                  <a:cubicBezTo>
                    <a:pt x="28262" y="2432227"/>
                    <a:pt x="0" y="2403965"/>
                    <a:pt x="0" y="2369102"/>
                  </a:cubicBezTo>
                  <a:lnTo>
                    <a:pt x="0" y="63124"/>
                  </a:lnTo>
                  <a:cubicBezTo>
                    <a:pt x="0" y="28262"/>
                    <a:pt x="28262" y="0"/>
                    <a:pt x="63124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647390" cy="24798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750130" y="2682850"/>
            <a:ext cx="5064688" cy="2154563"/>
            <a:chOff x="0" y="0"/>
            <a:chExt cx="1910632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10632" cy="812800"/>
            </a:xfrm>
            <a:custGeom>
              <a:avLst/>
              <a:gdLst/>
              <a:ahLst/>
              <a:cxnLst/>
              <a:rect r="r" b="b" t="t" l="l"/>
              <a:pathLst>
                <a:path h="812800" w="1910632">
                  <a:moveTo>
                    <a:pt x="35158" y="0"/>
                  </a:moveTo>
                  <a:lnTo>
                    <a:pt x="1875474" y="0"/>
                  </a:lnTo>
                  <a:cubicBezTo>
                    <a:pt x="1894892" y="0"/>
                    <a:pt x="1910632" y="15741"/>
                    <a:pt x="1910632" y="35158"/>
                  </a:cubicBezTo>
                  <a:lnTo>
                    <a:pt x="1910632" y="777642"/>
                  </a:lnTo>
                  <a:cubicBezTo>
                    <a:pt x="1910632" y="786966"/>
                    <a:pt x="1906928" y="795909"/>
                    <a:pt x="1900335" y="802502"/>
                  </a:cubicBezTo>
                  <a:cubicBezTo>
                    <a:pt x="1893742" y="809096"/>
                    <a:pt x="1884799" y="812800"/>
                    <a:pt x="1875474" y="812800"/>
                  </a:cubicBezTo>
                  <a:lnTo>
                    <a:pt x="35158" y="812800"/>
                  </a:lnTo>
                  <a:cubicBezTo>
                    <a:pt x="25833" y="812800"/>
                    <a:pt x="16891" y="809096"/>
                    <a:pt x="10298" y="802502"/>
                  </a:cubicBezTo>
                  <a:cubicBezTo>
                    <a:pt x="3704" y="795909"/>
                    <a:pt x="0" y="786966"/>
                    <a:pt x="0" y="777642"/>
                  </a:cubicBezTo>
                  <a:lnTo>
                    <a:pt x="0" y="35158"/>
                  </a:lnTo>
                  <a:cubicBezTo>
                    <a:pt x="0" y="25833"/>
                    <a:pt x="3704" y="16891"/>
                    <a:pt x="10298" y="10298"/>
                  </a:cubicBezTo>
                  <a:cubicBezTo>
                    <a:pt x="16891" y="3704"/>
                    <a:pt x="25833" y="0"/>
                    <a:pt x="35158" y="0"/>
                  </a:cubicBezTo>
                  <a:close/>
                </a:path>
              </a:pathLst>
            </a:custGeom>
            <a:blipFill>
              <a:blip r:embed="rId3"/>
              <a:stretch>
                <a:fillRect l="-497" t="0" r="-497" b="0"/>
              </a:stretch>
            </a:blipFill>
            <a:ln w="38100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6597835" y="5151739"/>
            <a:ext cx="5369277" cy="4152814"/>
            <a:chOff x="0" y="0"/>
            <a:chExt cx="1091245" cy="84401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91246" cy="844013"/>
            </a:xfrm>
            <a:custGeom>
              <a:avLst/>
              <a:gdLst/>
              <a:ahLst/>
              <a:cxnLst/>
              <a:rect r="r" b="b" t="t" l="l"/>
              <a:pathLst>
                <a:path h="844013" w="1091246">
                  <a:moveTo>
                    <a:pt x="33164" y="0"/>
                  </a:moveTo>
                  <a:lnTo>
                    <a:pt x="1058082" y="0"/>
                  </a:lnTo>
                  <a:cubicBezTo>
                    <a:pt x="1076398" y="0"/>
                    <a:pt x="1091246" y="14848"/>
                    <a:pt x="1091246" y="33164"/>
                  </a:cubicBezTo>
                  <a:lnTo>
                    <a:pt x="1091246" y="810849"/>
                  </a:lnTo>
                  <a:cubicBezTo>
                    <a:pt x="1091246" y="819645"/>
                    <a:pt x="1087752" y="828080"/>
                    <a:pt x="1081532" y="834300"/>
                  </a:cubicBezTo>
                  <a:cubicBezTo>
                    <a:pt x="1075313" y="840519"/>
                    <a:pt x="1066878" y="844013"/>
                    <a:pt x="1058082" y="844013"/>
                  </a:cubicBezTo>
                  <a:lnTo>
                    <a:pt x="33164" y="844013"/>
                  </a:lnTo>
                  <a:cubicBezTo>
                    <a:pt x="24368" y="844013"/>
                    <a:pt x="15933" y="840519"/>
                    <a:pt x="9713" y="834300"/>
                  </a:cubicBezTo>
                  <a:cubicBezTo>
                    <a:pt x="3494" y="828080"/>
                    <a:pt x="0" y="819645"/>
                    <a:pt x="0" y="810849"/>
                  </a:cubicBezTo>
                  <a:lnTo>
                    <a:pt x="0" y="33164"/>
                  </a:lnTo>
                  <a:cubicBezTo>
                    <a:pt x="0" y="24368"/>
                    <a:pt x="3494" y="15933"/>
                    <a:pt x="9713" y="9713"/>
                  </a:cubicBezTo>
                  <a:cubicBezTo>
                    <a:pt x="15933" y="3494"/>
                    <a:pt x="24368" y="0"/>
                    <a:pt x="33164" y="0"/>
                  </a:cubicBezTo>
                  <a:close/>
                </a:path>
              </a:pathLst>
            </a:custGeom>
            <a:blipFill>
              <a:blip r:embed="rId4"/>
              <a:stretch>
                <a:fillRect l="-1562" t="0" r="-1562" b="0"/>
              </a:stretch>
            </a:blipFill>
            <a:ln w="38100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2305586" y="1459942"/>
            <a:ext cx="6476614" cy="9234861"/>
            <a:chOff x="0" y="0"/>
            <a:chExt cx="1705775" cy="243222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705775" cy="2432227"/>
            </a:xfrm>
            <a:custGeom>
              <a:avLst/>
              <a:gdLst/>
              <a:ahLst/>
              <a:cxnLst/>
              <a:rect r="r" b="b" t="t" l="l"/>
              <a:pathLst>
                <a:path h="2432227" w="1705775">
                  <a:moveTo>
                    <a:pt x="60964" y="0"/>
                  </a:moveTo>
                  <a:lnTo>
                    <a:pt x="1644811" y="0"/>
                  </a:lnTo>
                  <a:cubicBezTo>
                    <a:pt x="1660980" y="0"/>
                    <a:pt x="1676486" y="6423"/>
                    <a:pt x="1687919" y="17856"/>
                  </a:cubicBezTo>
                  <a:cubicBezTo>
                    <a:pt x="1699352" y="29289"/>
                    <a:pt x="1705775" y="44795"/>
                    <a:pt x="1705775" y="60964"/>
                  </a:cubicBezTo>
                  <a:lnTo>
                    <a:pt x="1705775" y="2371263"/>
                  </a:lnTo>
                  <a:cubicBezTo>
                    <a:pt x="1705775" y="2387432"/>
                    <a:pt x="1699352" y="2402938"/>
                    <a:pt x="1687919" y="2414371"/>
                  </a:cubicBezTo>
                  <a:cubicBezTo>
                    <a:pt x="1676486" y="2425804"/>
                    <a:pt x="1660980" y="2432227"/>
                    <a:pt x="1644811" y="2432227"/>
                  </a:cubicBezTo>
                  <a:lnTo>
                    <a:pt x="60964" y="2432227"/>
                  </a:lnTo>
                  <a:cubicBezTo>
                    <a:pt x="44795" y="2432227"/>
                    <a:pt x="29289" y="2425804"/>
                    <a:pt x="17856" y="2414371"/>
                  </a:cubicBezTo>
                  <a:cubicBezTo>
                    <a:pt x="6423" y="2402938"/>
                    <a:pt x="0" y="2387432"/>
                    <a:pt x="0" y="2371263"/>
                  </a:cubicBezTo>
                  <a:lnTo>
                    <a:pt x="0" y="60964"/>
                  </a:lnTo>
                  <a:cubicBezTo>
                    <a:pt x="0" y="44795"/>
                    <a:pt x="6423" y="29289"/>
                    <a:pt x="17856" y="17856"/>
                  </a:cubicBezTo>
                  <a:cubicBezTo>
                    <a:pt x="29289" y="6423"/>
                    <a:pt x="44795" y="0"/>
                    <a:pt x="60964" y="0"/>
                  </a:cubicBezTo>
                  <a:close/>
                </a:path>
              </a:pathLst>
            </a:custGeom>
            <a:solidFill>
              <a:srgbClr val="004AAD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1705775" cy="24798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2750137" y="2752566"/>
            <a:ext cx="5221911" cy="2097076"/>
            <a:chOff x="0" y="0"/>
            <a:chExt cx="2023946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023946" cy="812800"/>
            </a:xfrm>
            <a:custGeom>
              <a:avLst/>
              <a:gdLst/>
              <a:ahLst/>
              <a:cxnLst/>
              <a:rect r="r" b="b" t="t" l="l"/>
              <a:pathLst>
                <a:path h="812800" w="2023946">
                  <a:moveTo>
                    <a:pt x="34099" y="0"/>
                  </a:moveTo>
                  <a:lnTo>
                    <a:pt x="1989847" y="0"/>
                  </a:lnTo>
                  <a:cubicBezTo>
                    <a:pt x="1998891" y="0"/>
                    <a:pt x="2007564" y="3593"/>
                    <a:pt x="2013959" y="9987"/>
                  </a:cubicBezTo>
                  <a:cubicBezTo>
                    <a:pt x="2020354" y="16382"/>
                    <a:pt x="2023946" y="25056"/>
                    <a:pt x="2023946" y="34099"/>
                  </a:cubicBezTo>
                  <a:lnTo>
                    <a:pt x="2023946" y="778701"/>
                  </a:lnTo>
                  <a:cubicBezTo>
                    <a:pt x="2023946" y="787744"/>
                    <a:pt x="2020354" y="796418"/>
                    <a:pt x="2013959" y="802813"/>
                  </a:cubicBezTo>
                  <a:cubicBezTo>
                    <a:pt x="2007564" y="809207"/>
                    <a:pt x="1998891" y="812800"/>
                    <a:pt x="1989847" y="812800"/>
                  </a:cubicBezTo>
                  <a:lnTo>
                    <a:pt x="34099" y="812800"/>
                  </a:lnTo>
                  <a:cubicBezTo>
                    <a:pt x="25056" y="812800"/>
                    <a:pt x="16382" y="809207"/>
                    <a:pt x="9987" y="802813"/>
                  </a:cubicBezTo>
                  <a:cubicBezTo>
                    <a:pt x="3593" y="796418"/>
                    <a:pt x="0" y="787744"/>
                    <a:pt x="0" y="778701"/>
                  </a:cubicBezTo>
                  <a:lnTo>
                    <a:pt x="0" y="34099"/>
                  </a:lnTo>
                  <a:cubicBezTo>
                    <a:pt x="0" y="25056"/>
                    <a:pt x="3593" y="16382"/>
                    <a:pt x="9987" y="9987"/>
                  </a:cubicBezTo>
                  <a:cubicBezTo>
                    <a:pt x="16382" y="3593"/>
                    <a:pt x="25056" y="0"/>
                    <a:pt x="34099" y="0"/>
                  </a:cubicBezTo>
                  <a:close/>
                </a:path>
              </a:pathLst>
            </a:custGeom>
            <a:blipFill>
              <a:blip r:embed="rId5"/>
              <a:stretch>
                <a:fillRect l="0" t="-982" r="0" b="-982"/>
              </a:stretch>
            </a:blipFill>
            <a:ln w="38100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12653018" y="5225444"/>
            <a:ext cx="5416149" cy="4079108"/>
            <a:chOff x="0" y="0"/>
            <a:chExt cx="1079218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79218" cy="812800"/>
            </a:xfrm>
            <a:custGeom>
              <a:avLst/>
              <a:gdLst/>
              <a:ahLst/>
              <a:cxnLst/>
              <a:rect r="r" b="b" t="t" l="l"/>
              <a:pathLst>
                <a:path h="812800" w="1079218">
                  <a:moveTo>
                    <a:pt x="32877" y="0"/>
                  </a:moveTo>
                  <a:lnTo>
                    <a:pt x="1046341" y="0"/>
                  </a:lnTo>
                  <a:cubicBezTo>
                    <a:pt x="1055061" y="0"/>
                    <a:pt x="1063423" y="3464"/>
                    <a:pt x="1069588" y="9629"/>
                  </a:cubicBezTo>
                  <a:cubicBezTo>
                    <a:pt x="1075754" y="15795"/>
                    <a:pt x="1079218" y="24157"/>
                    <a:pt x="1079218" y="32877"/>
                  </a:cubicBezTo>
                  <a:lnTo>
                    <a:pt x="1079218" y="779923"/>
                  </a:lnTo>
                  <a:cubicBezTo>
                    <a:pt x="1079218" y="788643"/>
                    <a:pt x="1075754" y="797005"/>
                    <a:pt x="1069588" y="803171"/>
                  </a:cubicBezTo>
                  <a:cubicBezTo>
                    <a:pt x="1063423" y="809336"/>
                    <a:pt x="1055061" y="812800"/>
                    <a:pt x="1046341" y="812800"/>
                  </a:cubicBezTo>
                  <a:lnTo>
                    <a:pt x="32877" y="812800"/>
                  </a:lnTo>
                  <a:cubicBezTo>
                    <a:pt x="24157" y="812800"/>
                    <a:pt x="15795" y="809336"/>
                    <a:pt x="9629" y="803171"/>
                  </a:cubicBezTo>
                  <a:cubicBezTo>
                    <a:pt x="3464" y="797005"/>
                    <a:pt x="0" y="788643"/>
                    <a:pt x="0" y="779923"/>
                  </a:cubicBezTo>
                  <a:lnTo>
                    <a:pt x="0" y="32877"/>
                  </a:lnTo>
                  <a:cubicBezTo>
                    <a:pt x="0" y="24157"/>
                    <a:pt x="3464" y="15795"/>
                    <a:pt x="9629" y="9629"/>
                  </a:cubicBezTo>
                  <a:cubicBezTo>
                    <a:pt x="15795" y="3464"/>
                    <a:pt x="24157" y="0"/>
                    <a:pt x="32877" y="0"/>
                  </a:cubicBezTo>
                  <a:close/>
                </a:path>
              </a:pathLst>
            </a:custGeom>
            <a:blipFill>
              <a:blip r:embed="rId6"/>
              <a:stretch>
                <a:fillRect l="-1233" t="0" r="-1233" b="0"/>
              </a:stretch>
            </a:blipFill>
            <a:ln w="38100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-359460" y="1459942"/>
            <a:ext cx="6410110" cy="9234861"/>
            <a:chOff x="0" y="0"/>
            <a:chExt cx="1688259" cy="243222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688260" cy="2432227"/>
            </a:xfrm>
            <a:custGeom>
              <a:avLst/>
              <a:gdLst/>
              <a:ahLst/>
              <a:cxnLst/>
              <a:rect r="r" b="b" t="t" l="l"/>
              <a:pathLst>
                <a:path h="2432227" w="1688260">
                  <a:moveTo>
                    <a:pt x="61596" y="0"/>
                  </a:moveTo>
                  <a:lnTo>
                    <a:pt x="1626664" y="0"/>
                  </a:lnTo>
                  <a:cubicBezTo>
                    <a:pt x="1660682" y="0"/>
                    <a:pt x="1688260" y="27578"/>
                    <a:pt x="1688260" y="61596"/>
                  </a:cubicBezTo>
                  <a:lnTo>
                    <a:pt x="1688260" y="2370631"/>
                  </a:lnTo>
                  <a:cubicBezTo>
                    <a:pt x="1688260" y="2386967"/>
                    <a:pt x="1681770" y="2402634"/>
                    <a:pt x="1670218" y="2414186"/>
                  </a:cubicBezTo>
                  <a:cubicBezTo>
                    <a:pt x="1658667" y="2425737"/>
                    <a:pt x="1643000" y="2432227"/>
                    <a:pt x="1626664" y="2432227"/>
                  </a:cubicBezTo>
                  <a:lnTo>
                    <a:pt x="61596" y="2432227"/>
                  </a:lnTo>
                  <a:cubicBezTo>
                    <a:pt x="45260" y="2432227"/>
                    <a:pt x="29593" y="2425737"/>
                    <a:pt x="18041" y="2414186"/>
                  </a:cubicBezTo>
                  <a:cubicBezTo>
                    <a:pt x="6490" y="2402634"/>
                    <a:pt x="0" y="2386967"/>
                    <a:pt x="0" y="2370631"/>
                  </a:cubicBezTo>
                  <a:lnTo>
                    <a:pt x="0" y="61596"/>
                  </a:lnTo>
                  <a:cubicBezTo>
                    <a:pt x="0" y="45260"/>
                    <a:pt x="6490" y="29593"/>
                    <a:pt x="18041" y="18041"/>
                  </a:cubicBezTo>
                  <a:cubicBezTo>
                    <a:pt x="29593" y="6490"/>
                    <a:pt x="45260" y="0"/>
                    <a:pt x="61596" y="0"/>
                  </a:cubicBezTo>
                  <a:close/>
                </a:path>
              </a:pathLst>
            </a:custGeom>
            <a:solidFill>
              <a:srgbClr val="004AAD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1688259" cy="24798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240402" y="2723822"/>
            <a:ext cx="5467348" cy="2154563"/>
            <a:chOff x="0" y="0"/>
            <a:chExt cx="2063145" cy="81304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063145" cy="813041"/>
            </a:xfrm>
            <a:custGeom>
              <a:avLst/>
              <a:gdLst/>
              <a:ahLst/>
              <a:cxnLst/>
              <a:rect r="r" b="b" t="t" l="l"/>
              <a:pathLst>
                <a:path h="813041" w="2063145">
                  <a:moveTo>
                    <a:pt x="32569" y="0"/>
                  </a:moveTo>
                  <a:lnTo>
                    <a:pt x="2030577" y="0"/>
                  </a:lnTo>
                  <a:cubicBezTo>
                    <a:pt x="2048564" y="0"/>
                    <a:pt x="2063145" y="14581"/>
                    <a:pt x="2063145" y="32569"/>
                  </a:cubicBezTo>
                  <a:lnTo>
                    <a:pt x="2063145" y="780472"/>
                  </a:lnTo>
                  <a:cubicBezTo>
                    <a:pt x="2063145" y="798459"/>
                    <a:pt x="2048564" y="813041"/>
                    <a:pt x="2030577" y="813041"/>
                  </a:cubicBezTo>
                  <a:lnTo>
                    <a:pt x="32569" y="813041"/>
                  </a:lnTo>
                  <a:cubicBezTo>
                    <a:pt x="14581" y="813041"/>
                    <a:pt x="0" y="798459"/>
                    <a:pt x="0" y="780472"/>
                  </a:cubicBezTo>
                  <a:lnTo>
                    <a:pt x="0" y="32569"/>
                  </a:lnTo>
                  <a:cubicBezTo>
                    <a:pt x="0" y="14581"/>
                    <a:pt x="14581" y="0"/>
                    <a:pt x="32569" y="0"/>
                  </a:cubicBezTo>
                  <a:close/>
                </a:path>
              </a:pathLst>
            </a:custGeom>
            <a:blipFill>
              <a:blip r:embed="rId7"/>
              <a:stretch>
                <a:fillRect l="0" t="-640" r="0" b="-640"/>
              </a:stretch>
            </a:blipFill>
            <a:ln w="38100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184767" y="5224158"/>
            <a:ext cx="5522983" cy="4080394"/>
            <a:chOff x="0" y="0"/>
            <a:chExt cx="1100159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100159" cy="812800"/>
            </a:xfrm>
            <a:custGeom>
              <a:avLst/>
              <a:gdLst/>
              <a:ahLst/>
              <a:cxnLst/>
              <a:rect r="r" b="b" t="t" l="l"/>
              <a:pathLst>
                <a:path h="812800" w="1100159">
                  <a:moveTo>
                    <a:pt x="32241" y="0"/>
                  </a:moveTo>
                  <a:lnTo>
                    <a:pt x="1067918" y="0"/>
                  </a:lnTo>
                  <a:cubicBezTo>
                    <a:pt x="1076469" y="0"/>
                    <a:pt x="1084669" y="3397"/>
                    <a:pt x="1090716" y="9443"/>
                  </a:cubicBezTo>
                  <a:cubicBezTo>
                    <a:pt x="1096762" y="15489"/>
                    <a:pt x="1100159" y="23690"/>
                    <a:pt x="1100159" y="32241"/>
                  </a:cubicBezTo>
                  <a:lnTo>
                    <a:pt x="1100159" y="780559"/>
                  </a:lnTo>
                  <a:cubicBezTo>
                    <a:pt x="1100159" y="789110"/>
                    <a:pt x="1096762" y="797311"/>
                    <a:pt x="1090716" y="803357"/>
                  </a:cubicBezTo>
                  <a:cubicBezTo>
                    <a:pt x="1084669" y="809403"/>
                    <a:pt x="1076469" y="812800"/>
                    <a:pt x="1067918" y="812800"/>
                  </a:cubicBezTo>
                  <a:lnTo>
                    <a:pt x="32241" y="812800"/>
                  </a:lnTo>
                  <a:cubicBezTo>
                    <a:pt x="23690" y="812800"/>
                    <a:pt x="15489" y="809403"/>
                    <a:pt x="9443" y="803357"/>
                  </a:cubicBezTo>
                  <a:cubicBezTo>
                    <a:pt x="3397" y="797311"/>
                    <a:pt x="0" y="789110"/>
                    <a:pt x="0" y="780559"/>
                  </a:cubicBezTo>
                  <a:lnTo>
                    <a:pt x="0" y="32241"/>
                  </a:lnTo>
                  <a:cubicBezTo>
                    <a:pt x="0" y="23690"/>
                    <a:pt x="3397" y="15489"/>
                    <a:pt x="9443" y="9443"/>
                  </a:cubicBezTo>
                  <a:cubicBezTo>
                    <a:pt x="15489" y="3397"/>
                    <a:pt x="23690" y="0"/>
                    <a:pt x="32241" y="0"/>
                  </a:cubicBezTo>
                  <a:close/>
                </a:path>
              </a:pathLst>
            </a:custGeom>
            <a:blipFill>
              <a:blip r:embed="rId8"/>
              <a:stretch>
                <a:fillRect l="0" t="-1519" r="0" b="-1519"/>
              </a:stretch>
            </a:blipFill>
            <a:ln w="38100" cap="rnd">
              <a:solidFill>
                <a:srgbClr val="000000"/>
              </a:solidFill>
              <a:prstDash val="solid"/>
              <a:round/>
            </a:ln>
          </p:spPr>
        </p:sp>
      </p:grpSp>
      <p:sp>
        <p:nvSpPr>
          <p:cNvPr name="TextBox 24" id="24"/>
          <p:cNvSpPr txBox="true"/>
          <p:nvPr/>
        </p:nvSpPr>
        <p:spPr>
          <a:xfrm rot="0">
            <a:off x="4073574" y="178358"/>
            <a:ext cx="10417800" cy="967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40"/>
              </a:lnSpc>
            </a:pPr>
            <a:r>
              <a:rPr lang="en-US" sz="5672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RESOLUCIÓ NUMÈRICA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96115" y="1698600"/>
            <a:ext cx="3263886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h = 0,2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271447" y="1698600"/>
            <a:ext cx="4026680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h = 0,002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7650531" y="1698600"/>
            <a:ext cx="3263886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h = 0,02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79728" y="1504038"/>
            <a:ext cx="5013374" cy="3816431"/>
          </a:xfrm>
          <a:custGeom>
            <a:avLst/>
            <a:gdLst/>
            <a:ahLst/>
            <a:cxnLst/>
            <a:rect r="r" b="b" t="t" l="l"/>
            <a:pathLst>
              <a:path h="3816431" w="5013374">
                <a:moveTo>
                  <a:pt x="0" y="0"/>
                </a:moveTo>
                <a:lnTo>
                  <a:pt x="5013374" y="0"/>
                </a:lnTo>
                <a:lnTo>
                  <a:pt x="5013374" y="3816431"/>
                </a:lnTo>
                <a:lnTo>
                  <a:pt x="0" y="381643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6741362" y="1504038"/>
            <a:ext cx="5013374" cy="3816431"/>
          </a:xfrm>
          <a:custGeom>
            <a:avLst/>
            <a:gdLst/>
            <a:ahLst/>
            <a:cxnLst/>
            <a:rect r="r" b="b" t="t" l="l"/>
            <a:pathLst>
              <a:path h="3816431" w="5013374">
                <a:moveTo>
                  <a:pt x="0" y="0"/>
                </a:moveTo>
                <a:lnTo>
                  <a:pt x="5013374" y="0"/>
                </a:lnTo>
                <a:lnTo>
                  <a:pt x="5013374" y="3816431"/>
                </a:lnTo>
                <a:lnTo>
                  <a:pt x="0" y="381643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2702996" y="1504038"/>
            <a:ext cx="5013374" cy="3816431"/>
          </a:xfrm>
          <a:custGeom>
            <a:avLst/>
            <a:gdLst/>
            <a:ahLst/>
            <a:cxnLst/>
            <a:rect r="r" b="b" t="t" l="l"/>
            <a:pathLst>
              <a:path h="3816431" w="5013374">
                <a:moveTo>
                  <a:pt x="0" y="0"/>
                </a:moveTo>
                <a:lnTo>
                  <a:pt x="5013374" y="0"/>
                </a:lnTo>
                <a:lnTo>
                  <a:pt x="5013374" y="3816431"/>
                </a:lnTo>
                <a:lnTo>
                  <a:pt x="0" y="381643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0715531" y="5792416"/>
            <a:ext cx="5013374" cy="3816431"/>
          </a:xfrm>
          <a:custGeom>
            <a:avLst/>
            <a:gdLst/>
            <a:ahLst/>
            <a:cxnLst/>
            <a:rect r="r" b="b" t="t" l="l"/>
            <a:pathLst>
              <a:path h="3816431" w="5013374">
                <a:moveTo>
                  <a:pt x="0" y="0"/>
                </a:moveTo>
                <a:lnTo>
                  <a:pt x="5013374" y="0"/>
                </a:lnTo>
                <a:lnTo>
                  <a:pt x="5013374" y="3816431"/>
                </a:lnTo>
                <a:lnTo>
                  <a:pt x="0" y="381643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name="TextBox 7" id="7"/>
          <p:cNvSpPr txBox="true"/>
          <p:nvPr/>
        </p:nvSpPr>
        <p:spPr>
          <a:xfrm rot="0">
            <a:off x="584202" y="191058"/>
            <a:ext cx="10417800" cy="967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40"/>
              </a:lnSpc>
            </a:pPr>
            <a:r>
              <a:rPr lang="en-US" sz="5672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RESOLUCIÓ NUMÈRICA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577740" y="348338"/>
            <a:ext cx="3263886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h = 0,02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3673325" y="5820616"/>
            <a:ext cx="5013374" cy="3760030"/>
          </a:xfrm>
          <a:custGeom>
            <a:avLst/>
            <a:gdLst/>
            <a:ahLst/>
            <a:cxnLst/>
            <a:rect r="r" b="b" t="t" l="l"/>
            <a:pathLst>
              <a:path h="3760030" w="5013374">
                <a:moveTo>
                  <a:pt x="0" y="0"/>
                </a:moveTo>
                <a:lnTo>
                  <a:pt x="5013374" y="0"/>
                </a:lnTo>
                <a:lnTo>
                  <a:pt x="5013374" y="3760030"/>
                </a:lnTo>
                <a:lnTo>
                  <a:pt x="0" y="376003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grpSp>
        <p:nvGrpSpPr>
          <p:cNvPr name="Group 10" id="10"/>
          <p:cNvGrpSpPr/>
          <p:nvPr/>
        </p:nvGrpSpPr>
        <p:grpSpPr>
          <a:xfrm rot="5400000">
            <a:off x="-9309" y="6334864"/>
            <a:ext cx="897167" cy="2731534"/>
            <a:chOff x="0" y="0"/>
            <a:chExt cx="236291" cy="71941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36291" cy="719416"/>
            </a:xfrm>
            <a:custGeom>
              <a:avLst/>
              <a:gdLst/>
              <a:ahLst/>
              <a:cxnLst/>
              <a:rect r="r" b="b" t="t" l="l"/>
              <a:pathLst>
                <a:path h="719416" w="236291">
                  <a:moveTo>
                    <a:pt x="118145" y="0"/>
                  </a:moveTo>
                  <a:lnTo>
                    <a:pt x="118145" y="0"/>
                  </a:lnTo>
                  <a:cubicBezTo>
                    <a:pt x="183395" y="0"/>
                    <a:pt x="236291" y="52895"/>
                    <a:pt x="236291" y="118145"/>
                  </a:cubicBezTo>
                  <a:lnTo>
                    <a:pt x="236291" y="601271"/>
                  </a:lnTo>
                  <a:cubicBezTo>
                    <a:pt x="236291" y="632605"/>
                    <a:pt x="223843" y="662656"/>
                    <a:pt x="201687" y="684812"/>
                  </a:cubicBezTo>
                  <a:cubicBezTo>
                    <a:pt x="179530" y="706969"/>
                    <a:pt x="149480" y="719416"/>
                    <a:pt x="118145" y="719416"/>
                  </a:cubicBezTo>
                  <a:lnTo>
                    <a:pt x="118145" y="719416"/>
                  </a:lnTo>
                  <a:cubicBezTo>
                    <a:pt x="52895" y="719416"/>
                    <a:pt x="0" y="666521"/>
                    <a:pt x="0" y="601271"/>
                  </a:cubicBezTo>
                  <a:lnTo>
                    <a:pt x="0" y="118145"/>
                  </a:lnTo>
                  <a:cubicBezTo>
                    <a:pt x="0" y="86811"/>
                    <a:pt x="12447" y="56761"/>
                    <a:pt x="34604" y="34604"/>
                  </a:cubicBezTo>
                  <a:cubicBezTo>
                    <a:pt x="56761" y="12447"/>
                    <a:pt x="86811" y="0"/>
                    <a:pt x="118145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236291" cy="7670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6841626" y="9258300"/>
            <a:ext cx="897167" cy="2731534"/>
            <a:chOff x="0" y="0"/>
            <a:chExt cx="236291" cy="71941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36291" cy="719416"/>
            </a:xfrm>
            <a:custGeom>
              <a:avLst/>
              <a:gdLst/>
              <a:ahLst/>
              <a:cxnLst/>
              <a:rect r="r" b="b" t="t" l="l"/>
              <a:pathLst>
                <a:path h="719416" w="236291">
                  <a:moveTo>
                    <a:pt x="118145" y="0"/>
                  </a:moveTo>
                  <a:lnTo>
                    <a:pt x="118145" y="0"/>
                  </a:lnTo>
                  <a:cubicBezTo>
                    <a:pt x="183395" y="0"/>
                    <a:pt x="236291" y="52895"/>
                    <a:pt x="236291" y="118145"/>
                  </a:cubicBezTo>
                  <a:lnTo>
                    <a:pt x="236291" y="601271"/>
                  </a:lnTo>
                  <a:cubicBezTo>
                    <a:pt x="236291" y="632605"/>
                    <a:pt x="223843" y="662656"/>
                    <a:pt x="201687" y="684812"/>
                  </a:cubicBezTo>
                  <a:cubicBezTo>
                    <a:pt x="179530" y="706969"/>
                    <a:pt x="149480" y="719416"/>
                    <a:pt x="118145" y="719416"/>
                  </a:cubicBezTo>
                  <a:lnTo>
                    <a:pt x="118145" y="719416"/>
                  </a:lnTo>
                  <a:cubicBezTo>
                    <a:pt x="52895" y="719416"/>
                    <a:pt x="0" y="666521"/>
                    <a:pt x="0" y="601271"/>
                  </a:cubicBezTo>
                  <a:lnTo>
                    <a:pt x="0" y="118145"/>
                  </a:lnTo>
                  <a:cubicBezTo>
                    <a:pt x="0" y="86811"/>
                    <a:pt x="12447" y="56761"/>
                    <a:pt x="34604" y="34604"/>
                  </a:cubicBezTo>
                  <a:cubicBezTo>
                    <a:pt x="56761" y="12447"/>
                    <a:pt x="86811" y="0"/>
                    <a:pt x="118145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236291" cy="7670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908043" y="0"/>
            <a:ext cx="6379957" cy="10287000"/>
            <a:chOff x="0" y="0"/>
            <a:chExt cx="1680318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680318" cy="2709333"/>
            </a:xfrm>
            <a:custGeom>
              <a:avLst/>
              <a:gdLst/>
              <a:ahLst/>
              <a:cxnLst/>
              <a:rect r="r" b="b" t="t" l="l"/>
              <a:pathLst>
                <a:path h="2709333" w="1680318">
                  <a:moveTo>
                    <a:pt x="0" y="0"/>
                  </a:moveTo>
                  <a:lnTo>
                    <a:pt x="1680318" y="0"/>
                  </a:lnTo>
                  <a:lnTo>
                    <a:pt x="168031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680318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2841173" y="4074606"/>
            <a:ext cx="4908029" cy="15360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12"/>
              </a:lnSpc>
              <a:spcBef>
                <a:spcPct val="0"/>
              </a:spcBef>
            </a:pPr>
            <a:r>
              <a:rPr lang="en-US" sz="215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Potencial V(x) de fons amb la superposició de fons de les funcions d'ona al seu nivell d'energia corresponent.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-970541" y="2006345"/>
            <a:ext cx="1601933" cy="6466659"/>
            <a:chOff x="0" y="0"/>
            <a:chExt cx="421908" cy="170315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21908" cy="1703153"/>
            </a:xfrm>
            <a:custGeom>
              <a:avLst/>
              <a:gdLst/>
              <a:ahLst/>
              <a:cxnLst/>
              <a:rect r="r" b="b" t="t" l="l"/>
              <a:pathLst>
                <a:path h="1703153" w="421908">
                  <a:moveTo>
                    <a:pt x="210954" y="0"/>
                  </a:moveTo>
                  <a:lnTo>
                    <a:pt x="210954" y="0"/>
                  </a:lnTo>
                  <a:cubicBezTo>
                    <a:pt x="266903" y="0"/>
                    <a:pt x="320560" y="22225"/>
                    <a:pt x="360121" y="61787"/>
                  </a:cubicBezTo>
                  <a:cubicBezTo>
                    <a:pt x="399683" y="101349"/>
                    <a:pt x="421908" y="155006"/>
                    <a:pt x="421908" y="210954"/>
                  </a:cubicBezTo>
                  <a:lnTo>
                    <a:pt x="421908" y="1492199"/>
                  </a:lnTo>
                  <a:cubicBezTo>
                    <a:pt x="421908" y="1548147"/>
                    <a:pt x="399683" y="1601804"/>
                    <a:pt x="360121" y="1641366"/>
                  </a:cubicBezTo>
                  <a:cubicBezTo>
                    <a:pt x="320560" y="1680928"/>
                    <a:pt x="266903" y="1703153"/>
                    <a:pt x="210954" y="1703153"/>
                  </a:cubicBezTo>
                  <a:lnTo>
                    <a:pt x="210954" y="1703153"/>
                  </a:lnTo>
                  <a:cubicBezTo>
                    <a:pt x="155006" y="1703153"/>
                    <a:pt x="101349" y="1680928"/>
                    <a:pt x="61787" y="1641366"/>
                  </a:cubicBezTo>
                  <a:cubicBezTo>
                    <a:pt x="22225" y="1601804"/>
                    <a:pt x="0" y="1548147"/>
                    <a:pt x="0" y="1492199"/>
                  </a:cubicBezTo>
                  <a:lnTo>
                    <a:pt x="0" y="210954"/>
                  </a:lnTo>
                  <a:cubicBezTo>
                    <a:pt x="0" y="155006"/>
                    <a:pt x="22225" y="101349"/>
                    <a:pt x="61787" y="61787"/>
                  </a:cubicBezTo>
                  <a:cubicBezTo>
                    <a:pt x="101349" y="22225"/>
                    <a:pt x="155006" y="0"/>
                    <a:pt x="210954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421908" cy="17507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1908043" y="914400"/>
            <a:ext cx="5508835" cy="770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6372"/>
              </a:lnSpc>
            </a:pPr>
            <a:r>
              <a:rPr lang="en-US" sz="455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MILLORES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173498" y="1744684"/>
            <a:ext cx="4243380" cy="794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6591"/>
              </a:lnSpc>
            </a:pPr>
            <a:r>
              <a:rPr lang="en-US" b="true" sz="4708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ANALÍTIQUES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235883" y="929307"/>
            <a:ext cx="10067669" cy="8428385"/>
            <a:chOff x="0" y="0"/>
            <a:chExt cx="1070141" cy="89589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70141" cy="895893"/>
            </a:xfrm>
            <a:custGeom>
              <a:avLst/>
              <a:gdLst/>
              <a:ahLst/>
              <a:cxnLst/>
              <a:rect r="r" b="b" t="t" l="l"/>
              <a:pathLst>
                <a:path h="895893" w="1070141">
                  <a:moveTo>
                    <a:pt x="17687" y="0"/>
                  </a:moveTo>
                  <a:lnTo>
                    <a:pt x="1052454" y="0"/>
                  </a:lnTo>
                  <a:cubicBezTo>
                    <a:pt x="1062222" y="0"/>
                    <a:pt x="1070141" y="7919"/>
                    <a:pt x="1070141" y="17687"/>
                  </a:cubicBezTo>
                  <a:lnTo>
                    <a:pt x="1070141" y="878207"/>
                  </a:lnTo>
                  <a:cubicBezTo>
                    <a:pt x="1070141" y="882897"/>
                    <a:pt x="1068277" y="887396"/>
                    <a:pt x="1064960" y="890713"/>
                  </a:cubicBezTo>
                  <a:cubicBezTo>
                    <a:pt x="1061643" y="894030"/>
                    <a:pt x="1057145" y="895893"/>
                    <a:pt x="1052454" y="895893"/>
                  </a:cubicBezTo>
                  <a:lnTo>
                    <a:pt x="17687" y="895893"/>
                  </a:lnTo>
                  <a:cubicBezTo>
                    <a:pt x="12996" y="895893"/>
                    <a:pt x="8497" y="894030"/>
                    <a:pt x="5180" y="890713"/>
                  </a:cubicBezTo>
                  <a:cubicBezTo>
                    <a:pt x="1863" y="887396"/>
                    <a:pt x="0" y="882897"/>
                    <a:pt x="0" y="878207"/>
                  </a:cubicBezTo>
                  <a:lnTo>
                    <a:pt x="0" y="17687"/>
                  </a:lnTo>
                  <a:cubicBezTo>
                    <a:pt x="0" y="12996"/>
                    <a:pt x="1863" y="8497"/>
                    <a:pt x="5180" y="5180"/>
                  </a:cubicBezTo>
                  <a:cubicBezTo>
                    <a:pt x="8497" y="1863"/>
                    <a:pt x="12996" y="0"/>
                    <a:pt x="17687" y="0"/>
                  </a:cubicBezTo>
                  <a:close/>
                </a:path>
              </a:pathLst>
            </a:custGeom>
            <a:blipFill>
              <a:blip r:embed="rId3"/>
              <a:stretch>
                <a:fillRect l="-55" t="0" r="-55" b="0"/>
              </a:stretch>
            </a:blipFill>
            <a:ln w="38100" cap="rnd">
              <a:solidFill>
                <a:srgbClr val="000000"/>
              </a:solidFill>
              <a:prstDash val="solid"/>
              <a:round/>
            </a:ln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869943" y="0"/>
            <a:ext cx="6379957" cy="6934669"/>
            <a:chOff x="0" y="0"/>
            <a:chExt cx="1680318" cy="182641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680318" cy="1826415"/>
            </a:xfrm>
            <a:custGeom>
              <a:avLst/>
              <a:gdLst/>
              <a:ahLst/>
              <a:cxnLst/>
              <a:rect r="r" b="b" t="t" l="l"/>
              <a:pathLst>
                <a:path h="1826415" w="1680318">
                  <a:moveTo>
                    <a:pt x="24270" y="0"/>
                  </a:moveTo>
                  <a:lnTo>
                    <a:pt x="1656049" y="0"/>
                  </a:lnTo>
                  <a:cubicBezTo>
                    <a:pt x="1662485" y="0"/>
                    <a:pt x="1668658" y="2557"/>
                    <a:pt x="1673210" y="7108"/>
                  </a:cubicBezTo>
                  <a:cubicBezTo>
                    <a:pt x="1677761" y="11660"/>
                    <a:pt x="1680318" y="17833"/>
                    <a:pt x="1680318" y="24270"/>
                  </a:cubicBezTo>
                  <a:lnTo>
                    <a:pt x="1680318" y="1802145"/>
                  </a:lnTo>
                  <a:cubicBezTo>
                    <a:pt x="1680318" y="1808582"/>
                    <a:pt x="1677761" y="1814755"/>
                    <a:pt x="1673210" y="1819307"/>
                  </a:cubicBezTo>
                  <a:cubicBezTo>
                    <a:pt x="1668658" y="1823858"/>
                    <a:pt x="1662485" y="1826415"/>
                    <a:pt x="1656049" y="1826415"/>
                  </a:cubicBezTo>
                  <a:lnTo>
                    <a:pt x="24270" y="1826415"/>
                  </a:lnTo>
                  <a:cubicBezTo>
                    <a:pt x="17833" y="1826415"/>
                    <a:pt x="11660" y="1823858"/>
                    <a:pt x="7108" y="1819307"/>
                  </a:cubicBezTo>
                  <a:cubicBezTo>
                    <a:pt x="2557" y="1814755"/>
                    <a:pt x="0" y="1808582"/>
                    <a:pt x="0" y="1802145"/>
                  </a:cubicBezTo>
                  <a:lnTo>
                    <a:pt x="0" y="24270"/>
                  </a:lnTo>
                  <a:cubicBezTo>
                    <a:pt x="0" y="17833"/>
                    <a:pt x="2557" y="11660"/>
                    <a:pt x="7108" y="7108"/>
                  </a:cubicBezTo>
                  <a:cubicBezTo>
                    <a:pt x="11660" y="2557"/>
                    <a:pt x="17833" y="0"/>
                    <a:pt x="2427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680318" cy="18740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970541" y="2006345"/>
            <a:ext cx="1601933" cy="6466659"/>
            <a:chOff x="0" y="0"/>
            <a:chExt cx="421908" cy="170315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21908" cy="1703153"/>
            </a:xfrm>
            <a:custGeom>
              <a:avLst/>
              <a:gdLst/>
              <a:ahLst/>
              <a:cxnLst/>
              <a:rect r="r" b="b" t="t" l="l"/>
              <a:pathLst>
                <a:path h="1703153" w="421908">
                  <a:moveTo>
                    <a:pt x="210954" y="0"/>
                  </a:moveTo>
                  <a:lnTo>
                    <a:pt x="210954" y="0"/>
                  </a:lnTo>
                  <a:cubicBezTo>
                    <a:pt x="266903" y="0"/>
                    <a:pt x="320560" y="22225"/>
                    <a:pt x="360121" y="61787"/>
                  </a:cubicBezTo>
                  <a:cubicBezTo>
                    <a:pt x="399683" y="101349"/>
                    <a:pt x="421908" y="155006"/>
                    <a:pt x="421908" y="210954"/>
                  </a:cubicBezTo>
                  <a:lnTo>
                    <a:pt x="421908" y="1492199"/>
                  </a:lnTo>
                  <a:cubicBezTo>
                    <a:pt x="421908" y="1548147"/>
                    <a:pt x="399683" y="1601804"/>
                    <a:pt x="360121" y="1641366"/>
                  </a:cubicBezTo>
                  <a:cubicBezTo>
                    <a:pt x="320560" y="1680928"/>
                    <a:pt x="266903" y="1703153"/>
                    <a:pt x="210954" y="1703153"/>
                  </a:cubicBezTo>
                  <a:lnTo>
                    <a:pt x="210954" y="1703153"/>
                  </a:lnTo>
                  <a:cubicBezTo>
                    <a:pt x="155006" y="1703153"/>
                    <a:pt x="101349" y="1680928"/>
                    <a:pt x="61787" y="1641366"/>
                  </a:cubicBezTo>
                  <a:cubicBezTo>
                    <a:pt x="22225" y="1601804"/>
                    <a:pt x="0" y="1548147"/>
                    <a:pt x="0" y="1492199"/>
                  </a:cubicBezTo>
                  <a:lnTo>
                    <a:pt x="0" y="210954"/>
                  </a:lnTo>
                  <a:cubicBezTo>
                    <a:pt x="0" y="155006"/>
                    <a:pt x="22225" y="101349"/>
                    <a:pt x="61787" y="61787"/>
                  </a:cubicBezTo>
                  <a:cubicBezTo>
                    <a:pt x="101349" y="22225"/>
                    <a:pt x="155006" y="0"/>
                    <a:pt x="210954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421908" cy="17507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415321" y="123646"/>
            <a:ext cx="9689741" cy="7630481"/>
            <a:chOff x="0" y="0"/>
            <a:chExt cx="1137671" cy="89589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37671" cy="895893"/>
            </a:xfrm>
            <a:custGeom>
              <a:avLst/>
              <a:gdLst/>
              <a:ahLst/>
              <a:cxnLst/>
              <a:rect r="r" b="b" t="t" l="l"/>
              <a:pathLst>
                <a:path h="895893" w="1137671">
                  <a:moveTo>
                    <a:pt x="18377" y="0"/>
                  </a:moveTo>
                  <a:lnTo>
                    <a:pt x="1119294" y="0"/>
                  </a:lnTo>
                  <a:cubicBezTo>
                    <a:pt x="1124168" y="0"/>
                    <a:pt x="1128842" y="1936"/>
                    <a:pt x="1132288" y="5382"/>
                  </a:cubicBezTo>
                  <a:cubicBezTo>
                    <a:pt x="1135735" y="8829"/>
                    <a:pt x="1137671" y="13503"/>
                    <a:pt x="1137671" y="18377"/>
                  </a:cubicBezTo>
                  <a:lnTo>
                    <a:pt x="1137671" y="877517"/>
                  </a:lnTo>
                  <a:cubicBezTo>
                    <a:pt x="1137671" y="887666"/>
                    <a:pt x="1129443" y="895893"/>
                    <a:pt x="1119294" y="895893"/>
                  </a:cubicBezTo>
                  <a:lnTo>
                    <a:pt x="18377" y="895893"/>
                  </a:lnTo>
                  <a:cubicBezTo>
                    <a:pt x="13503" y="895893"/>
                    <a:pt x="8829" y="893957"/>
                    <a:pt x="5382" y="890511"/>
                  </a:cubicBezTo>
                  <a:cubicBezTo>
                    <a:pt x="1936" y="887065"/>
                    <a:pt x="0" y="882391"/>
                    <a:pt x="0" y="877517"/>
                  </a:cubicBezTo>
                  <a:lnTo>
                    <a:pt x="0" y="18377"/>
                  </a:lnTo>
                  <a:cubicBezTo>
                    <a:pt x="0" y="13503"/>
                    <a:pt x="1936" y="8829"/>
                    <a:pt x="5382" y="5382"/>
                  </a:cubicBezTo>
                  <a:cubicBezTo>
                    <a:pt x="8829" y="1936"/>
                    <a:pt x="13503" y="0"/>
                    <a:pt x="18377" y="0"/>
                  </a:cubicBezTo>
                  <a:close/>
                </a:path>
              </a:pathLst>
            </a:custGeom>
            <a:blipFill>
              <a:blip r:embed="rId3"/>
              <a:stretch>
                <a:fillRect l="-1722" t="0" r="-1722" b="0"/>
              </a:stretch>
            </a:blipFill>
            <a:ln w="38100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1412169" y="7947001"/>
            <a:ext cx="16875831" cy="2481275"/>
            <a:chOff x="0" y="0"/>
            <a:chExt cx="4444663" cy="65350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444663" cy="653504"/>
            </a:xfrm>
            <a:custGeom>
              <a:avLst/>
              <a:gdLst/>
              <a:ahLst/>
              <a:cxnLst/>
              <a:rect r="r" b="b" t="t" l="l"/>
              <a:pathLst>
                <a:path h="653504" w="4444663">
                  <a:moveTo>
                    <a:pt x="10551" y="0"/>
                  </a:moveTo>
                  <a:lnTo>
                    <a:pt x="4434112" y="0"/>
                  </a:lnTo>
                  <a:cubicBezTo>
                    <a:pt x="4439939" y="0"/>
                    <a:pt x="4444663" y="4724"/>
                    <a:pt x="4444663" y="10551"/>
                  </a:cubicBezTo>
                  <a:lnTo>
                    <a:pt x="4444663" y="642953"/>
                  </a:lnTo>
                  <a:cubicBezTo>
                    <a:pt x="4444663" y="645751"/>
                    <a:pt x="4443552" y="648435"/>
                    <a:pt x="4441573" y="650414"/>
                  </a:cubicBezTo>
                  <a:cubicBezTo>
                    <a:pt x="4439594" y="652393"/>
                    <a:pt x="4436910" y="653504"/>
                    <a:pt x="4434112" y="653504"/>
                  </a:cubicBezTo>
                  <a:lnTo>
                    <a:pt x="10551" y="653504"/>
                  </a:lnTo>
                  <a:cubicBezTo>
                    <a:pt x="7753" y="653504"/>
                    <a:pt x="5069" y="652393"/>
                    <a:pt x="3090" y="650414"/>
                  </a:cubicBezTo>
                  <a:cubicBezTo>
                    <a:pt x="1112" y="648435"/>
                    <a:pt x="0" y="645751"/>
                    <a:pt x="0" y="642953"/>
                  </a:cubicBezTo>
                  <a:lnTo>
                    <a:pt x="0" y="10551"/>
                  </a:lnTo>
                  <a:cubicBezTo>
                    <a:pt x="0" y="7753"/>
                    <a:pt x="1112" y="5069"/>
                    <a:pt x="3090" y="3090"/>
                  </a:cubicBezTo>
                  <a:cubicBezTo>
                    <a:pt x="5069" y="1112"/>
                    <a:pt x="7753" y="0"/>
                    <a:pt x="10551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4444663" cy="7011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2315884" y="9005436"/>
            <a:ext cx="8646924" cy="730822"/>
          </a:xfrm>
          <a:custGeom>
            <a:avLst/>
            <a:gdLst/>
            <a:ahLst/>
            <a:cxnLst/>
            <a:rect r="r" b="b" t="t" l="l"/>
            <a:pathLst>
              <a:path h="730822" w="8646924">
                <a:moveTo>
                  <a:pt x="0" y="0"/>
                </a:moveTo>
                <a:lnTo>
                  <a:pt x="8646924" y="0"/>
                </a:lnTo>
                <a:lnTo>
                  <a:pt x="8646924" y="730822"/>
                </a:lnTo>
                <a:lnTo>
                  <a:pt x="0" y="73082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30696" b="-12112"/>
            </a:stretch>
          </a:blipFill>
          <a:ln w="38100" cap="rnd">
            <a:solidFill>
              <a:srgbClr val="000000"/>
            </a:solidFill>
            <a:prstDash val="solid"/>
            <a:round/>
          </a:ln>
        </p:spPr>
      </p:sp>
      <p:sp>
        <p:nvSpPr>
          <p:cNvPr name="TextBox 15" id="15"/>
          <p:cNvSpPr txBox="true"/>
          <p:nvPr/>
        </p:nvSpPr>
        <p:spPr>
          <a:xfrm rot="0">
            <a:off x="12508848" y="3607482"/>
            <a:ext cx="4908029" cy="15360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12"/>
              </a:lnSpc>
              <a:spcBef>
                <a:spcPct val="0"/>
              </a:spcBef>
            </a:pPr>
            <a:r>
              <a:rPr lang="en-US" sz="215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Magnitud amb significat físic directe, mostrant visualment en quines zones del pou és més probable trobar la partícula.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908043" y="499765"/>
            <a:ext cx="5508835" cy="770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6372"/>
              </a:lnSpc>
            </a:pPr>
            <a:r>
              <a:rPr lang="en-US" sz="455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MILLORES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173498" y="1555733"/>
            <a:ext cx="4243380" cy="794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6591"/>
              </a:lnSpc>
            </a:pPr>
            <a:r>
              <a:rPr lang="en-US" b="true" sz="4708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ANALÍTIQUES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508848" y="8569500"/>
            <a:ext cx="4908029" cy="15360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12"/>
              </a:lnSpc>
              <a:spcBef>
                <a:spcPct val="0"/>
              </a:spcBef>
            </a:pPr>
            <a:r>
              <a:rPr lang="en-US" sz="215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Ens permet quantificar la facilitat amb la que la partícula pot "saltar" d'un pou a l'altre travessant la barrera de potencial.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508848" y="2915670"/>
            <a:ext cx="4243380" cy="382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79"/>
              </a:lnSpc>
            </a:pPr>
            <a:r>
              <a:rPr lang="en-US" b="true" sz="2199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DENSITAT DE PROBABILITAT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508848" y="8090733"/>
            <a:ext cx="4243380" cy="382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79"/>
              </a:lnSpc>
            </a:pPr>
            <a:r>
              <a:rPr lang="en-US" b="true" sz="2199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EFECTE TÚNEL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308488" y="8219956"/>
            <a:ext cx="1903408" cy="5181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92"/>
              </a:lnSpc>
              <a:spcBef>
                <a:spcPct val="0"/>
              </a:spcBef>
            </a:pPr>
            <a:r>
              <a:rPr lang="en-US" b="true" sz="285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ΔE=</a:t>
            </a:r>
            <a:r>
              <a:rPr lang="en-US" b="true" sz="285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</a:t>
            </a:r>
            <a:r>
              <a:rPr lang="en-US" b="true" sz="285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1</a:t>
            </a:r>
            <a:r>
              <a:rPr lang="en-US" b="true" sz="285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​− </a:t>
            </a:r>
            <a:r>
              <a:rPr lang="en-US" b="true" sz="285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</a:t>
            </a:r>
            <a:r>
              <a:rPr lang="en-US" b="true" sz="285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</a:t>
            </a:r>
            <a:r>
              <a:rPr lang="en-US" b="true" sz="285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​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8997950"/>
            <a:ext cx="2514600" cy="260350"/>
            <a:chOff x="0" y="0"/>
            <a:chExt cx="662281" cy="6857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62281" cy="68570"/>
            </a:xfrm>
            <a:custGeom>
              <a:avLst/>
              <a:gdLst/>
              <a:ahLst/>
              <a:cxnLst/>
              <a:rect r="r" b="b" t="t" l="l"/>
              <a:pathLst>
                <a:path h="68570" w="662281">
                  <a:moveTo>
                    <a:pt x="0" y="0"/>
                  </a:moveTo>
                  <a:lnTo>
                    <a:pt x="662281" y="0"/>
                  </a:lnTo>
                  <a:lnTo>
                    <a:pt x="662281" y="68570"/>
                  </a:lnTo>
                  <a:lnTo>
                    <a:pt x="0" y="68570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662281" cy="1161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905551" y="2491474"/>
            <a:ext cx="14657283" cy="5588273"/>
            <a:chOff x="0" y="0"/>
            <a:chExt cx="3860354" cy="147180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860355" cy="1471808"/>
            </a:xfrm>
            <a:custGeom>
              <a:avLst/>
              <a:gdLst/>
              <a:ahLst/>
              <a:cxnLst/>
              <a:rect r="r" b="b" t="t" l="l"/>
              <a:pathLst>
                <a:path h="1471808" w="3860355">
                  <a:moveTo>
                    <a:pt x="26938" y="0"/>
                  </a:moveTo>
                  <a:lnTo>
                    <a:pt x="3833417" y="0"/>
                  </a:lnTo>
                  <a:cubicBezTo>
                    <a:pt x="3848294" y="0"/>
                    <a:pt x="3860355" y="12061"/>
                    <a:pt x="3860355" y="26938"/>
                  </a:cubicBezTo>
                  <a:lnTo>
                    <a:pt x="3860355" y="1444870"/>
                  </a:lnTo>
                  <a:cubicBezTo>
                    <a:pt x="3860355" y="1452015"/>
                    <a:pt x="3857516" y="1458867"/>
                    <a:pt x="3852465" y="1463918"/>
                  </a:cubicBezTo>
                  <a:cubicBezTo>
                    <a:pt x="3847413" y="1468970"/>
                    <a:pt x="3840561" y="1471808"/>
                    <a:pt x="3833417" y="1471808"/>
                  </a:cubicBezTo>
                  <a:lnTo>
                    <a:pt x="26938" y="1471808"/>
                  </a:lnTo>
                  <a:cubicBezTo>
                    <a:pt x="12061" y="1471808"/>
                    <a:pt x="0" y="1459748"/>
                    <a:pt x="0" y="1444870"/>
                  </a:cubicBezTo>
                  <a:lnTo>
                    <a:pt x="0" y="26938"/>
                  </a:lnTo>
                  <a:cubicBezTo>
                    <a:pt x="0" y="19794"/>
                    <a:pt x="2838" y="12942"/>
                    <a:pt x="7890" y="7890"/>
                  </a:cubicBezTo>
                  <a:cubicBezTo>
                    <a:pt x="12942" y="2838"/>
                    <a:pt x="19794" y="0"/>
                    <a:pt x="26938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3860354" cy="1519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229220" y="2751275"/>
            <a:ext cx="1352661" cy="1352661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5E5E5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229220" y="4636289"/>
            <a:ext cx="1352661" cy="1352661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5E5E5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29220" y="6519965"/>
            <a:ext cx="1352661" cy="1352661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5E5E5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028700" y="1075959"/>
            <a:ext cx="5725389" cy="912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31"/>
              </a:lnSpc>
            </a:pPr>
            <a:r>
              <a:rPr lang="en-US" b="true" sz="5308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CONCLUSIONS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12276" y="2970224"/>
            <a:ext cx="1186550" cy="9617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66"/>
              </a:lnSpc>
            </a:pPr>
            <a:r>
              <a:rPr lang="en-US" sz="569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12276" y="4848341"/>
            <a:ext cx="1186550" cy="9617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66"/>
              </a:lnSpc>
            </a:pPr>
            <a:r>
              <a:rPr lang="en-US" b="true" sz="569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12276" y="6732419"/>
            <a:ext cx="1186550" cy="9617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66"/>
              </a:lnSpc>
            </a:pPr>
            <a:r>
              <a:rPr lang="en-US" sz="569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3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985647" y="3360931"/>
            <a:ext cx="12802110" cy="400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5"/>
              </a:lnSpc>
              <a:spcBef>
                <a:spcPct val="0"/>
              </a:spcBef>
            </a:pPr>
            <a:r>
              <a:rPr lang="en-US" sz="2232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Una discretització h=0,02 ofereix l'equilibri perfecte entre velocitat de càlcul i precisió.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985647" y="5082129"/>
            <a:ext cx="12631564" cy="400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5"/>
              </a:lnSpc>
              <a:spcBef>
                <a:spcPct val="0"/>
              </a:spcBef>
            </a:pPr>
            <a:r>
              <a:rPr lang="en-US" sz="2232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Obtingut una bona visualització dels nivells energètics de les funcions d'ona.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985647" y="6992814"/>
            <a:ext cx="6967446" cy="400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5"/>
              </a:lnSpc>
              <a:spcBef>
                <a:spcPct val="0"/>
              </a:spcBef>
            </a:pPr>
            <a:r>
              <a:rPr lang="en-US" sz="2232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Quantificar el fenòmen de l'efecte tunel.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DAHCpv_ftHI</dc:identifier>
  <dcterms:modified xsi:type="dcterms:W3CDTF">2011-08-01T06:04:30Z</dcterms:modified>
  <cp:revision>1</cp:revision>
  <dc:title>Pràctica 1 Presentació - Lluc Chauncey</dc:title>
</cp:coreProperties>
</file>